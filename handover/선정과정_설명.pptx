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of Housing Economics 투고를 목표로 하는 체계적 문헌고찰. 오늘은 148편이 어떻게 골라졌는지와 앞으로 12주 일정을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줄이 본류, 오른쪽이 빠지거나 더해진 것.
식별: 5개 경로로 52,006건. 핵심 학술지 16종(REE, JREFE, JHE, JUE, RSUE, JHR, JRER, Housing Studies, IJHMA, JPR, JREL, HPD, JHBE, Urban Studies, JERER, REMV)은 1986년 이후 전 논문을 받았다. 중복 14,902건을 지워 37,104건.
규칙 선별: 제목·초록에 주택 맥락어와 유동성 지표어(TOM, DOM, 거래량, 호가 대비 거래가 등 강한 용어)가 함께 있어야 통과. 기계적 규칙이라 재현 가능하다. 35,704건 제외, 1,400건 남음.
판독: 1,400건을 한 편씩 읽어 438편 통과. 제외 사유 코드 E1~E4(다음 장). 검색으로 안 잡힌 핵심 문헌(앵커, AER·JPE 등 일반 경제학지)과 복구 검색, 워킹페이퍼의 게재본 확인으로 82편을 더했다.
적격성: 438편에 '지표가 연구의 대상인가' 기준을 적용해 148편. 나머지 253편은 증거지도(건수만 센다), 37편은 이론 배경.
판독은 AI 보조(Claude) 1인 판정이라, 교수와 손수연이 무작위 140건·보류 47건·E2/E3 142건을 다시 판독해 일치도(kappa)를 보고한다.
148편 중 137편은 게재본 원문 확보. 8편은 원문 없음, 3편은 워킹페이퍼판만 있어 W12로 미뤘다. 끝내 못 구하면 PRISMA에 '원문 확보 실패'로 적는다. 예시 2편(p115, p033)은 Claude가 정리해 배정에서 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선별은 정규식 규칙이라 누가 돌려도 같은 결과. 판독은 한 편씩 읽고 코드를 붙였다. E1이 가장 많은 것은 '유동성'이 증권·통화 유동성, 가계 유동성 제약 같은 다른 뜻으로도 쓰이기 때문. 판독 통과 356편에 다른 경로 82편을 더해 438편.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기준. 우리 리뷰의 질문은 '유동성을 어떻게 재고, 그 지표가 무엇을 알려 주는가'이다.
C1: 매물 시간·거래량·호가 대비 거래가 같은 지표를 정의하거나, 측정 문제(절단·재등록·철회 매물)를 다루거나, 지수를 만든 논문.
C2: 그 지표가 가격 등을 앞서는지, 정보를 담고 있는지 검정한 논문.
증거지도 253편: 예를 들어 홍수 위험이 매물 시간을 늘리는가처럼 지표를 결과변수로만 쓴 연구. 버리는 게 아니라 연도·국가·지표별 건수 그림 1장으로 쓴다.
배경 37편: 탐색·매칭 이론 모형. 서론과 개념 틀에서 인용한다.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주축은 거래 사슬 단계: 사람들이 관심을 갖고(S1), 매물이 나오고 호가가 붙고(S2), 매수자와 짝이 지어지고(S3), 거래가 체결되고(S4), 그 결과가 시장 전체 상태로 집계된다(S5).
부축은 기능: 지표를 정의·구축했나(F1), 측정 문제를 다뤘나(F2), 다른 변수와의 선행성·관계를 봤나(F3).
가장 큰 칸은 S4×F3 40편, 대부분 거래량–가격 선후행 연구이고 한국 논문 상당수가 여기 들어간다.
배정표의 단계·기능·시장 코드는 초기값이다. 정리하면서 다르면 워드 '1. 분류'에 고치고 이유 한 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W1~W4는 한국 논문 27편부터(언어 부담이 없고 한국 시장 질문의 핵심). 그 뒤 영문을 단계 순으로: S3 매칭 → S2 호가 → S5 집계 → S4 체결 → S1 수요.
W1~W5는 청년 주거경로 리뷰와 겹치는 기간이라 1인 1편, W6부터 2편.
원문이 없거나 워킹페이퍼판만 있는 11편은 W12로 몰았다. 원석이 그 사이 상호대차·저자 메일로 구한다. 못 구하면 그 주는 비고 PRISMA에 '원문 확보 실패'로 기록.
매주 수요일 모임에서 다음 논문을 받고, 다음 모임 전날 화요일 18:00까지 워드 1쪽 + 시트 행을 낸다. 학생 정리는 Claude가 따로 해 둔 정리와 대조해 다른 곳만 교수가 판정한다(독립 이중 추출).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60520"/>
            <a:ext cx="10725912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</a:rPr>
              <a:t>주택시장 유동성 지표 리뷰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주택시장 유동성 지표 체계적 문헌고찰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문헌 선정 과정과 정리 일정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가천대학교 도시계획전공 연구실 · 2026.10.28 첫 모임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문헌 선정 흐름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자료: 연구실 검색 기록(검색 2026-10-10, 원문 현황 2026-10-21). PRISMA 2020 형식</a:t>
            </a:r>
            <a:endParaRPr lang="en-US" sz="1000" dirty="0"/>
          </a:p>
        </p:txBody>
      </p:sp>
      <p:sp>
        <p:nvSpPr>
          <p:cNvPr id="4" name="main1"/>
          <p:cNvSpPr/>
          <p:nvPr/>
        </p:nvSpPr>
        <p:spPr>
          <a:xfrm>
            <a:off x="1508760" y="1207008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mainText1"/>
          <p:cNvSpPr txBox="1"/>
          <p:nvPr/>
        </p:nvSpPr>
        <p:spPr>
          <a:xfrm>
            <a:off x="1645920" y="124358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데이터베이스·학술지 검색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52,006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건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Semantic Scholar 4,351 · Crossref 16,800 · 핵심 학술지 16종 26,581 · 인용 추적 876 · OpenAlex 3,398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71900" y="1920240"/>
            <a:ext cx="0" cy="155448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7" name="main2"/>
          <p:cNvSpPr/>
          <p:nvPr/>
        </p:nvSpPr>
        <p:spPr>
          <a:xfrm>
            <a:off x="1508760" y="2075688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mainText2"/>
          <p:cNvSpPr txBox="1"/>
          <p:nvPr/>
        </p:nvSpPr>
        <p:spPr>
          <a:xfrm>
            <a:off x="1645920" y="211226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규칙 선별 대상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37,104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71900" y="2788920"/>
            <a:ext cx="0" cy="155448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0" name="main3"/>
          <p:cNvSpPr/>
          <p:nvPr/>
        </p:nvSpPr>
        <p:spPr>
          <a:xfrm>
            <a:off x="1508760" y="2944368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mainText3"/>
          <p:cNvSpPr txBox="1"/>
          <p:nvPr/>
        </p:nvSpPr>
        <p:spPr>
          <a:xfrm>
            <a:off x="1645920" y="298094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제목·초록 판독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1,400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71900" y="3657600"/>
            <a:ext cx="0" cy="155448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3" name="main4"/>
          <p:cNvSpPr/>
          <p:nvPr/>
        </p:nvSpPr>
        <p:spPr>
          <a:xfrm>
            <a:off x="1508760" y="3813048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4" name="mainText4"/>
          <p:cNvSpPr txBox="1"/>
          <p:nvPr/>
        </p:nvSpPr>
        <p:spPr>
          <a:xfrm>
            <a:off x="1645920" y="384962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제목·초록 통과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438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71900" y="4526280"/>
            <a:ext cx="0" cy="155448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6" name="main5"/>
          <p:cNvSpPr/>
          <p:nvPr/>
        </p:nvSpPr>
        <p:spPr>
          <a:xfrm>
            <a:off x="1508760" y="4681728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mainText5"/>
          <p:cNvSpPr txBox="1"/>
          <p:nvPr/>
        </p:nvSpPr>
        <p:spPr>
          <a:xfrm>
            <a:off x="1645920" y="471830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종합 대상 </a:t>
            </a:r>
            <a:pPr indent="0" marL="0">
              <a:buNone/>
            </a:pPr>
            <a:r>
              <a:rPr lang="en-US" sz="1500" b="1" dirty="0">
                <a:solidFill>
                  <a:srgbClr val="B0431F"/>
                </a:solidFill>
              </a:rPr>
              <a:t>148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편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C1 측정·정의·지수 56 · C2 선행성·정보내용 92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71900" y="5394960"/>
            <a:ext cx="0" cy="155448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9" name="main6"/>
          <p:cNvSpPr/>
          <p:nvPr/>
        </p:nvSpPr>
        <p:spPr>
          <a:xfrm>
            <a:off x="1508760" y="5550408"/>
            <a:ext cx="4526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0" name="mainText6"/>
          <p:cNvSpPr txBox="1"/>
          <p:nvPr/>
        </p:nvSpPr>
        <p:spPr>
          <a:xfrm>
            <a:off x="1645920" y="558698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원문 확보(게재본) </a:t>
            </a:r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137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편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학생 정리 W1~W11, 예시 2편 제외 146편 배정</a:t>
            </a:r>
            <a:endParaRPr lang="en-US" sz="1400" dirty="0"/>
          </a:p>
        </p:txBody>
      </p:sp>
      <p:sp>
        <p:nvSpPr>
          <p:cNvPr id="21" name="side1"/>
          <p:cNvSpPr/>
          <p:nvPr/>
        </p:nvSpPr>
        <p:spPr>
          <a:xfrm>
            <a:off x="6583680" y="120700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2" name="sideText1"/>
          <p:cNvSpPr txBox="1"/>
          <p:nvPr/>
        </p:nvSpPr>
        <p:spPr>
          <a:xfrm>
            <a:off x="6720840" y="12435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중복 제거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14,902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건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DOI·정규화 제목 기준, 게재본 우선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1563624"/>
            <a:ext cx="54864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4" name="side2"/>
          <p:cNvSpPr/>
          <p:nvPr/>
        </p:nvSpPr>
        <p:spPr>
          <a:xfrm>
            <a:off x="6583680" y="207568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5" name="sideText2"/>
          <p:cNvSpPr txBox="1"/>
          <p:nvPr/>
        </p:nvSpPr>
        <p:spPr>
          <a:xfrm>
            <a:off x="6720840" y="21122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규칙으로 제외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35,704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건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주택 맥락어 없음 17,271 · 유동성 지표어 없음 12,185 · 강한 지표어 없음 2,847 · 노이즈 어휘 2,164 · OpenAlex 경로 1,151 · 과학 학술지 86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432304"/>
            <a:ext cx="54864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7" name="side3"/>
          <p:cNvSpPr/>
          <p:nvPr/>
        </p:nvSpPr>
        <p:spPr>
          <a:xfrm>
            <a:off x="6583680" y="294436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8" name="sideText3"/>
          <p:cNvSpPr txBox="1"/>
          <p:nvPr/>
        </p:nvSpPr>
        <p:spPr>
          <a:xfrm>
            <a:off x="6720840" y="29809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판독으로 제외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1,044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건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주제 밖 764 · 지표 측정 없음 93 · 문헌 유형 밖 79 · 시장 범위 밖 78 · 중복 28 · 선행 리뷰 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35040" y="3300984"/>
            <a:ext cx="54864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0" name="side4"/>
          <p:cNvSpPr/>
          <p:nvPr/>
        </p:nvSpPr>
        <p:spPr>
          <a:xfrm>
            <a:off x="6583680" y="38130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1" name="sideText4"/>
          <p:cNvSpPr txBox="1"/>
          <p:nvPr/>
        </p:nvSpPr>
        <p:spPr>
          <a:xfrm>
            <a:off x="6720840" y="38496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다른 경로로 추가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82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편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핵심 앵커 문헌 21 · 복구 검색 51 · 게재본 확인 10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4169664"/>
            <a:ext cx="54864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headEnd type="triangle"/>
          </a:ln>
        </p:spPr>
      </p:sp>
      <p:sp>
        <p:nvSpPr>
          <p:cNvPr id="33" name="side5"/>
          <p:cNvSpPr/>
          <p:nvPr/>
        </p:nvSpPr>
        <p:spPr>
          <a:xfrm>
            <a:off x="6583680" y="468172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4" name="sideText5"/>
          <p:cNvSpPr txBox="1"/>
          <p:nvPr/>
        </p:nvSpPr>
        <p:spPr>
          <a:xfrm>
            <a:off x="6720840" y="47183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종합 밖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290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편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증거지도 253(지표가 결과변수) · 이론 배경 37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5038344"/>
            <a:ext cx="54864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6" name="side6"/>
          <p:cNvSpPr/>
          <p:nvPr/>
        </p:nvSpPr>
        <p:spPr>
          <a:xfrm>
            <a:off x="6583680" y="555040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7" name="sideText6"/>
          <p:cNvSpPr txBox="1"/>
          <p:nvPr/>
        </p:nvSpPr>
        <p:spPr>
          <a:xfrm>
            <a:off x="6720840" y="55869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원문 대기 </a:t>
            </a:r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11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편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</a:rPr>
              <a:t>원문 없음 8 · 워킹페이퍼판만 3 → W12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0" y="5907024"/>
            <a:ext cx="548640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48640" y="12070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5A1"/>
                </a:solidFill>
              </a:rPr>
              <a:t>식별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298448" y="1207008"/>
            <a:ext cx="0" cy="713232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2075688"/>
            <a:ext cx="7772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5A1"/>
                </a:solidFill>
              </a:rPr>
              <a:t>선별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298448" y="2075688"/>
            <a:ext cx="0" cy="2450592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4681728"/>
            <a:ext cx="7772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5A1"/>
                </a:solidFill>
              </a:rPr>
              <a:t>적격성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298448" y="4681728"/>
            <a:ext cx="0" cy="1581912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단계별 제외 사유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자료: review/screening_all_records.csv, screening_read_set.csv, screening_openalex.csv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규칙 선별</a:t>
            </a:r>
            <a:pPr indent="0" marL="0">
              <a:buNone/>
            </a:pPr>
            <a:r>
              <a:rPr lang="en-US" sz="1700" dirty="0">
                <a:solidFill>
                  <a:srgbClr val="8B95A1"/>
                </a:solidFill>
              </a:rPr>
              <a:t>  37,104 → 1,400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제외 규칙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건수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주택 맥락어 없음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17,271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유동성 지표어 없음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12,185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강한 지표어 없음(TOM·DOM·호가 변경 등)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2,847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노이즈 어휘(증권·재료과학 등)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2,164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OpenAlex 경로 규칙·학술지 제외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1,151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과학 학술지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86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합계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35,704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제목·초록 판독</a:t>
            </a:r>
            <a:pPr indent="0" marL="0">
              <a:buNone/>
            </a:pPr>
            <a:r>
              <a:rPr lang="en-US" sz="1700" dirty="0">
                <a:solidFill>
                  <a:srgbClr val="8B95A1"/>
                </a:solidFill>
              </a:rPr>
              <a:t>  1,400 → 356</a:t>
            </a:r>
            <a:endParaRPr lang="en-US" sz="17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코드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사유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건수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E1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범위 밖 유동성·비주택 주제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764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E2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유동성 지표 측정 없음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93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E4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문헌 유형 밖(워킹페이퍼·학위논문·학술대회)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79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E3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시장 범위 밖(임대·상업용·토지·분양)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중복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28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선행 리뷰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합계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1,044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종합 대상 기준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자료: review/included_studies.csv(scope·criterion 열), 프로토콜 v0.7.3 §4.4. 연구책임자 승인 2026-10-11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1"/>
                </a:solidFill>
              </a:rPr>
              <a:t>438편 중 </a:t>
            </a:r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유동성 지표가 연구의 대상인 논문만</a:t>
            </a:r>
            <a:endParaRPr lang="en-US" sz="2000" dirty="0"/>
          </a:p>
        </p:txBody>
      </p:sp>
      <p:sp>
        <p:nvSpPr>
          <p:cNvPr id="5" name="num0"/>
          <p:cNvSpPr txBox="1"/>
          <p:nvPr/>
        </p:nvSpPr>
        <p:spPr>
          <a:xfrm>
            <a:off x="548640" y="19202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B0431F"/>
                </a:solidFill>
              </a:rPr>
              <a:t>148</a:t>
            </a:r>
            <a:endParaRPr lang="en-US" sz="10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종합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329184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4348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C1 측정·정의·지수 56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C2 선행성·정보내용 92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워드 1쪽 + 시트 추출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60520" y="2103120"/>
            <a:ext cx="0" cy="393192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0" name="num1"/>
          <p:cNvSpPr txBox="1"/>
          <p:nvPr/>
        </p:nvSpPr>
        <p:spPr>
          <a:xfrm>
            <a:off x="4343400" y="19202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F2933"/>
                </a:solidFill>
              </a:rPr>
              <a:t>253</a:t>
            </a:r>
            <a:endParaRPr lang="en-US" sz="100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증거지도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4251960"/>
            <a:ext cx="329184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44348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지표가 결과변수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홍수·학군·정책 → TOM·거래량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건수만 집계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0" cy="393192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5" name="num2"/>
          <p:cNvSpPr txBox="1"/>
          <p:nvPr/>
        </p:nvSpPr>
        <p:spPr>
          <a:xfrm>
            <a:off x="8138160" y="19202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F2933"/>
                </a:solidFill>
              </a:rPr>
              <a:t>37</a:t>
            </a:r>
            <a:endParaRPr lang="en-US" sz="100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</a:rPr>
              <a:t>배경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8160" y="4251960"/>
            <a:ext cx="329184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44348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탐색·매칭 이론 모형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서론·개념 틀 인용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추출 없음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종합 148편 분류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자료: review/synthesis_set.csv. 초기 코드, 학생이 정리하며 확인·수정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463040"/>
                <a:gridCol w="1554480"/>
                <a:gridCol w="731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거래 사슬 단계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F1 정의·구축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F2 측정 쟁점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F3 선행·관계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계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S1 수요·관심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21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S2 공급·호가 설정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S3 매칭(매물 시간)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13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17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39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S4 체결(거래량·가격)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B0431F"/>
                          </a:solidFill>
                        </a:rPr>
                        <a:t>40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52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S5 집계 상태·지수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9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계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39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26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83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3"/>
                          </a:solidFill>
                        </a:rPr>
                        <a:t>148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325880"/>
            <a:ext cx="0" cy="448056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제도환경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비MLS 포털·중개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87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869680" y="2377440"/>
            <a:ext cx="274320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MLS 시장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88136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53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869680" y="2926080"/>
            <a:ext cx="274320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696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경매 시장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881360" y="2971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869680" y="3474720"/>
            <a:ext cx="274320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6968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복수·불명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3520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869680" y="4023360"/>
            <a:ext cx="274320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69680" y="4297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한국 관련 </a:t>
            </a:r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</a:rPr>
              <a:t>28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정리 일정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자료: students/assignments.csv(배정 v8, 2026-10-21). 매주 수요일 모임, 전날 화요일 18:00 마감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주차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W03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W04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W05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W06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W07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W09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W10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W11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431F"/>
                          </a:solidFill>
                        </a:rPr>
                        <a:t>W12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5A1"/>
                          </a:solidFill>
                        </a:rPr>
                        <a:t>마감(화)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10/27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11/03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11/10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11/17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11/24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12/01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12/08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12/15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12/22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12/29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01/05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0431F"/>
                          </a:solidFill>
                        </a:rPr>
                        <a:t>01/12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5A1"/>
                          </a:solidFill>
                        </a:rPr>
                        <a:t>1인 편수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0431F"/>
                          </a:solidFill>
                        </a:rPr>
                        <a:t>1~2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5A1"/>
                          </a:solidFill>
                        </a:rPr>
                        <a:t>전체 편수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0431F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95A1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한국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한국 S4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한국 S4·S1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한국 S1·S3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S3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S3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S2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S5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S4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S4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S1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0431F"/>
                          </a:solidFill>
                        </a:rPr>
                        <a:t>원문 대기</a:t>
                      </a:r>
                      <a:endParaRPr lang="en-US" sz="1400" dirty="0"/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2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10512" y="4617720"/>
            <a:ext cx="3968496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3736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</a:rPr>
              <a:t>청년 주거경로 리뷰 병행(주 1편)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25312" y="4617720"/>
            <a:ext cx="4791456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1"/>
                </a:solidFill>
              </a:rPr>
              <a:t>주 2편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863072" y="4617720"/>
            <a:ext cx="676656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</a:rPr>
              <a:t>상호대차 후 배포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57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</a:rPr>
              <a:t>146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편 · 12주 · 마지막 마감 2027.1.12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quidity Review">
  <a:themeElements>
    <a:clrScheme name="Liquidity Review">
      <a:dk1>
        <a:srgbClr val="1F2933"/>
      </a:dk1>
      <a:lt1>
        <a:srgbClr val="FFFFFF"/>
      </a:lt1>
      <a:dk2>
        <a:srgbClr val="3E4C59"/>
      </a:dk2>
      <a:lt2>
        <a:srgbClr val="F5F7F9"/>
      </a:lt2>
      <a:accent1>
        <a:srgbClr val="B0431F"/>
      </a:accent1>
      <a:accent2>
        <a:srgbClr val="8B95A1"/>
      </a:accent2>
      <a:accent3>
        <a:srgbClr val="D5D9DE"/>
      </a:accent3>
      <a:accent4>
        <a:srgbClr val="52606D"/>
      </a:accent4>
      <a:accent5>
        <a:srgbClr val="9AA5B1"/>
      </a:accent5>
      <a:accent6>
        <a:srgbClr val="CBD2D9"/>
      </a:accent6>
      <a:hlink>
        <a:srgbClr val="B0431F"/>
      </a:hlink>
      <a:folHlink>
        <a:srgbClr val="7B8794"/>
      </a:folHlink>
    </a:clrScheme>
    <a:fontScheme name="Liquidity Review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문헌 선정 과정과 정리 일정</dc:title>
  <dc:subject>PptxGenJS Presentation</dc:subject>
  <dc:creator>PptxGenJS</dc:creator>
  <cp:lastModifiedBy>PptxGenJS</cp:lastModifiedBy>
  <cp:revision>1</cp:revision>
  <dcterms:created xsi:type="dcterms:W3CDTF">2026-10-21T02:08:06Z</dcterms:created>
  <dcterms:modified xsi:type="dcterms:W3CDTF">2026-10-21T02:08:06Z</dcterms:modified>
</cp:coreProperties>
</file>